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26C1618-9FD4-46E1-A0B3-C75B6F5B7BA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C397AA0-7E08-435E-8A3B-9016B5475C1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8FF15E-959C-4FF3-B320-BE447BD25861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4A7093-528B-408B-9ECD-D15D0CAC904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DBAD7A-DA3F-480D-8E5D-98C7ED9DE8D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2B9930-9E13-4D13-AEFC-7D693810FCB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1CE50D-445E-4FB6-889A-75C90F9400E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585E41E-CEC8-40E5-8F08-1162BB32D38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5C702CE-5DA6-477C-96A9-DEF355A3E2B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9828858-E8FD-4934-A1DF-FD747601BE8F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ADE23FA-1897-4EAE-B524-7BD725D97D19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9A9DF28-1D4A-4402-A131-B1F8F2A17C5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30629B-4F02-4684-93D2-20544AF2B1A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FD9309-9612-44CC-BF3E-0C3204DF456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863A4D-F87C-47C5-9CD3-9EB4988E4CC0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925A4E-F171-44C7-8038-8E697970F13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D8985D-E9F7-4497-8F6C-3A1DB55C1D4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45A91F-AEC3-4F8D-94C3-CA0BB423682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F076CA-2B6B-43BD-A2FF-5DFBACBFB2C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19C17D-A19A-4B06-939E-7B7323584C2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3F0F60-6ED8-453E-8F6C-8B7CE798A77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76509E-2215-4148-B1C8-C94B21DD6150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AC3E6D-5E68-481D-8851-483701A690B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US" sz="52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US" sz="2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41" name="Google Shape;56;p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57;p13"/>
          <p:cNvSpPr/>
          <p:nvPr/>
        </p:nvSpPr>
        <p:spPr>
          <a:xfrm>
            <a:off x="180000" y="3316320"/>
            <a:ext cx="29995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>
              <a:lnSpc>
                <a:spcPct val="115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Poppins"/>
                <a:ea typeface="Poppins"/>
              </a:rPr>
              <a:t>Team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58;p13"/>
          <p:cNvSpPr/>
          <p:nvPr/>
        </p:nvSpPr>
        <p:spPr>
          <a:xfrm>
            <a:off x="491400" y="3626640"/>
            <a:ext cx="8340480" cy="11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b="0" lang="en-GB" sz="1400" spc="-1" strike="noStrike">
                <a:solidFill>
                  <a:schemeClr val="dk1"/>
                </a:solidFill>
                <a:latin typeface="Poppins"/>
                <a:ea typeface="Poppins"/>
              </a:rPr>
              <a:t>Team name - INVICTUS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b="0" lang="en-GB" sz="1400" spc="-1" strike="noStrike">
                <a:solidFill>
                  <a:schemeClr val="dk1"/>
                </a:solidFill>
                <a:latin typeface="Poppins"/>
                <a:ea typeface="Poppins"/>
              </a:rPr>
              <a:t>Team leader name – </a:t>
            </a:r>
            <a:r>
              <a:rPr b="0" lang="en-IN" sz="1400" spc="-1" strike="noStrike">
                <a:solidFill>
                  <a:schemeClr val="dk1"/>
                </a:solidFill>
                <a:latin typeface="Poppins"/>
                <a:ea typeface="Poppins"/>
              </a:rPr>
              <a:t>Gowtham 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b="0" lang="en-GB" sz="1400" spc="-1" strike="noStrike">
                <a:solidFill>
                  <a:schemeClr val="dk1"/>
                </a:solidFill>
                <a:latin typeface="Poppins"/>
                <a:ea typeface="Poppins"/>
              </a:rPr>
              <a:t>Problem Statement – AI + Cybersecurity &amp; Privacy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39680">
              <a:lnSpc>
                <a:spcPct val="115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🔐 “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Securing Intranet Communication with AI-Driven Intelligence”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65;p14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45" name="Google Shape;66;p14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311760" y="1142640"/>
            <a:ext cx="8146440" cy="3800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chemeClr val="dk1"/>
                </a:solidFill>
                <a:latin typeface="Arial"/>
                <a:ea typeface="Arial"/>
              </a:rPr>
              <a:t>🔒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Zero-Trust E2E Encryption: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 Secure communication for smart campus intranets and connected legacy lab devices against internal network threats.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25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📦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Isolated Smart Routing: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 Containerized message flow engineered to completely isolate and protect sensitive university research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🛡️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Triple-Lock Security: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 AES-256 payload encryption, HTTPS secure routing channels, and strict Token-based device authentication.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🤖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Privacy-First Dual AI Engine: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 Localized Deep Learning models optimized for real-time campus traffic and advanced payload anomaly detection.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🔌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Cloud-Independent Edge Inference: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100% on-premise AI processing ensuring absolutely zero exposure of sensitive student PII to external clouds.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🏗️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Explainable Security-by-Design: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 A highly scalable, proactive defense framework featuring plain-language GenAI threat alerts for immediate IT action.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71;p 1"/>
          <p:cNvSpPr txBox="1"/>
          <p:nvPr/>
        </p:nvSpPr>
        <p:spPr>
          <a:xfrm>
            <a:off x="13320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Breif about the idea : AI Ciperbridge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3284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Opportunities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Google Shape;74;p15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50" name="Google Shape;75;p15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sp>
        <p:nvSpPr>
          <p:cNvPr id="51" name="TextBox 1"/>
          <p:cNvSpPr/>
          <p:nvPr/>
        </p:nvSpPr>
        <p:spPr>
          <a:xfrm>
            <a:off x="208440" y="1253880"/>
            <a:ext cx="4134960" cy="35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🌍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Market  Opportunity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575"/>
              </a:spcAft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🏭 </a:t>
            </a: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Smart campus and lab IoT devices lack internal encryption</a:t>
            </a:r>
            <a:br>
              <a:rPr sz="1300"/>
            </a:b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⚠ Internal university intranet traffic is often unmonitored</a:t>
            </a:r>
            <a:br>
              <a:rPr sz="1300"/>
            </a:b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📉 Traditional firewalls focus only on the network perimeter </a:t>
            </a:r>
            <a:br>
              <a:rPr sz="1300"/>
            </a:b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📜 Compliance (FERPA / GDPR) requires strict student data privacy</a:t>
            </a:r>
            <a:br>
              <a:rPr sz="1300"/>
            </a:b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🚀 Growing demand for privacy-preserving edge AI solutions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575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2"/>
          <p:cNvSpPr/>
          <p:nvPr/>
        </p:nvSpPr>
        <p:spPr>
          <a:xfrm>
            <a:off x="4343400" y="914400"/>
            <a:ext cx="4297680" cy="24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🔥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What Makes AI CipherBridge Different?</a:t>
            </a:r>
            <a:endParaRPr b="0" lang="en-US" sz="13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91440">
              <a:lnSpc>
                <a:spcPct val="100000"/>
              </a:lnSpc>
              <a:spcBef>
                <a:spcPts val="145"/>
              </a:spcBef>
              <a:spcAft>
                <a:spcPts val="145"/>
              </a:spcAft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🔐 </a:t>
            </a: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Zero-Trust secure access flows for campus labs &amp; clubs</a:t>
            </a:r>
            <a:endParaRPr b="0" lang="en-US" sz="13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289"/>
              </a:spcBef>
              <a:spcAft>
                <a:spcPts val="431"/>
              </a:spcAft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 🧠 </a:t>
            </a: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Privacy-preserving Edge AI anomaly detection</a:t>
            </a:r>
            <a:endParaRPr b="0" lang="en-US" sz="13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 📦 </a:t>
            </a: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Container-level isolation for sensitive research data</a:t>
            </a:r>
            <a:endParaRPr b="0" lang="en-US" sz="13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289"/>
              </a:spcBef>
              <a:spcAft>
                <a:spcPts val="431"/>
              </a:spcAft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 🌐 </a:t>
            </a: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100% on-premise inference with zero raw PII exposure</a:t>
            </a:r>
            <a:endParaRPr b="0" lang="en-US" sz="13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Aft>
                <a:spcPts val="145"/>
              </a:spcAft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 🗣️ </a:t>
            </a: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Explainable GenAI alerts for clear campus IT guidance</a:t>
            </a:r>
            <a:endParaRPr b="0" lang="en-US" sz="13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431"/>
              </a:spcBef>
              <a:spcAft>
                <a:spcPts val="1009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4343400" y="3037680"/>
            <a:ext cx="411480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505"/>
              </a:spcBef>
              <a:spcAft>
                <a:spcPts val="1009"/>
              </a:spcAf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✔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Eliminates blind spots inside the university intranet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31"/>
              </a:spcAf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✔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Detects compromised lab sensors and malware instantly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575"/>
              </a:spcAf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✔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Prevents lateral attacks on sensitive research data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✔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Provides structured, privacy-compliant data routing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List of features offered by the solution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Google Shape;82;p16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56" name="Google Shape;83;p16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sp>
        <p:nvSpPr>
          <p:cNvPr id="57" name="TextBox 1"/>
          <p:cNvSpPr/>
          <p:nvPr/>
        </p:nvSpPr>
        <p:spPr>
          <a:xfrm>
            <a:off x="199800" y="1207800"/>
            <a:ext cx="3915000" cy="359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</a:t>
            </a:r>
            <a:r>
              <a:rPr b="1" lang="en-IN" sz="1620" spc="-1" strike="noStrike">
                <a:solidFill>
                  <a:srgbClr val="000000"/>
                </a:solidFill>
                <a:latin typeface="Arial"/>
                <a:ea typeface="Arial"/>
              </a:rPr>
              <a:t>Core Features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1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🔐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End-to-End AES-256 Encrypted IoT Communication 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🔑 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Zero-Trust Token-Based Device Access Control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📦 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Isolated Docker Containerized Message Routing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🧠 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Privacy-Preserving Dual AI Security Engine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📊 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Real-Time AI-Driven Traffic &amp; Payload Analysis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📝 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Explainable AI Threat Logging &amp; Audit Trail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289"/>
              </a:spcBef>
              <a:spcAft>
                <a:spcPts val="145"/>
              </a:spcAft>
            </a:pP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🌐 </a:t>
            </a:r>
            <a:r>
              <a:rPr b="0" lang="en-IN" sz="1350" spc="-1" strike="noStrike">
                <a:solidFill>
                  <a:srgbClr val="000000"/>
                </a:solidFill>
                <a:latin typeface="Arial"/>
                <a:ea typeface="Arial"/>
              </a:rPr>
              <a:t>Resilient Cloud-Independent Offline Edge Support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4331520" y="1256760"/>
            <a:ext cx="4355280" cy="354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31"/>
              </a:spcBef>
              <a:spcAft>
                <a:spcPts val="289"/>
              </a:spcAft>
            </a:pPr>
            <a:r>
              <a:rPr b="1" lang="en-IN" sz="162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       </a:t>
            </a:r>
            <a:r>
              <a:rPr b="1" lang="en-IN" sz="1620" spc="-1" strike="noStrike">
                <a:solidFill>
                  <a:srgbClr val="000000"/>
                </a:solidFill>
                <a:latin typeface="Arial"/>
                <a:ea typeface="Arial"/>
              </a:rPr>
              <a:t>USP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289"/>
              </a:spcAf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⚡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Ultra-lightweight &amp; instantly deployable on low-cost edge gateways and AMD hardware.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289"/>
              </a:spcAf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🎓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Designed specifically for university research labs and smart campus environments.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145"/>
              </a:spcAf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🛡️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100% On-Premise Privacy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: Federated learning ensures sensitive student PII never leaves the classroom.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🗣️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Explainable GenAI Alerts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: Translates complex network threats into simple, actionable IT guidance.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Process flow diagram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Google Shape;90;p17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61" name="Google Shape;91;p17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pic>
        <p:nvPicPr>
          <p:cNvPr id="62" name="" descr=""/>
          <p:cNvPicPr/>
          <p:nvPr/>
        </p:nvPicPr>
        <p:blipFill>
          <a:blip r:embed="rId3"/>
          <a:stretch/>
        </p:blipFill>
        <p:spPr>
          <a:xfrm>
            <a:off x="228600" y="1191600"/>
            <a:ext cx="8686800" cy="360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Architecture diagram of the proposed solution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Google Shape;106;p19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65" name="Google Shape;107;p19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3"/>
          <a:stretch/>
        </p:blipFill>
        <p:spPr>
          <a:xfrm>
            <a:off x="426960" y="1191600"/>
            <a:ext cx="7802640" cy="361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 txBox="1"/>
          <p:nvPr/>
        </p:nvSpPr>
        <p:spPr>
          <a:xfrm>
            <a:off x="1450080" y="228600"/>
            <a:ext cx="4950720" cy="37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Architecture diagram of the proposed solution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 rot="4800">
            <a:off x="911520" y="690480"/>
            <a:ext cx="7086600" cy="39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0" y="56124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1" lang="en-IN" sz="1620" spc="-1" strike="noStrike">
                <a:solidFill>
                  <a:srgbClr val="000000"/>
                </a:solidFill>
                <a:latin typeface="Poppins"/>
                <a:ea typeface="Arial"/>
              </a:rPr>
              <a:t>                                          </a:t>
            </a:r>
            <a:r>
              <a:rPr b="1" lang="en-US" sz="1620" spc="-1" strike="noStrike">
                <a:solidFill>
                  <a:srgbClr val="000000"/>
                </a:solidFill>
                <a:latin typeface="Poppins"/>
              </a:rPr>
              <a:t>Technology Stack</a:t>
            </a:r>
            <a:endParaRPr b="1" lang="en-US" sz="1620" spc="-1" strike="noStrike">
              <a:solidFill>
                <a:srgbClr val="000000"/>
              </a:solidFill>
              <a:latin typeface="Poppins"/>
            </a:endParaRPr>
          </a:p>
        </p:txBody>
      </p:sp>
      <p:pic>
        <p:nvPicPr>
          <p:cNvPr id="70" name="Google Shape;114;p20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71" name="Google Shape;115;p20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sp>
        <p:nvSpPr>
          <p:cNvPr id="72" name="TextBox 3"/>
          <p:cNvSpPr/>
          <p:nvPr/>
        </p:nvSpPr>
        <p:spPr>
          <a:xfrm>
            <a:off x="0" y="1143000"/>
            <a:ext cx="89154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0" y="969840"/>
            <a:ext cx="8915400" cy="417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🧠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400" spc="-1" strike="noStrike" u="sng">
                <a:solidFill>
                  <a:srgbClr val="000000"/>
                </a:solidFill>
                <a:uFillTx/>
                <a:latin typeface="FreeSans"/>
              </a:rPr>
              <a:t>AI &amp; Deep Learning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1300" spc="-1" strike="noStrike">
                <a:solidFill>
                  <a:srgbClr val="41190d"/>
                </a:solidFill>
                <a:latin typeface="Arial"/>
              </a:rPr>
              <a:t>PyTorch &amp; Scikit-Learn: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 Autoencoders &amp; Isolation Forest for temporal anomaly detection.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1300" spc="-1" strike="noStrike">
                <a:solidFill>
                  <a:srgbClr val="41190d"/>
                </a:solidFill>
                <a:latin typeface="Arial"/>
              </a:rPr>
              <a:t>ONNX Runtime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: Optimizing models to run locally on AMD Ryzen™ AI NPUs.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US" sz="1300" spc="-1" strike="noStrike">
                <a:solidFill>
                  <a:srgbClr val="41190d"/>
                </a:solidFill>
                <a:latin typeface="Arial"/>
              </a:rPr>
              <a:t>Local GenAI (Llama-3)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: Generates plain-language, explainable security alerts.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🛡️ </a:t>
            </a:r>
            <a:r>
              <a:rPr b="1" lang="en-US" sz="1400" spc="-1" strike="noStrike" u="sng">
                <a:solidFill>
                  <a:srgbClr val="000000"/>
                </a:solidFill>
                <a:uFillTx/>
                <a:latin typeface="FreeSans"/>
              </a:rPr>
              <a:t>Security &amp; Cryptography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b="1" lang="en-US" sz="1300" spc="-1" strike="noStrike">
                <a:solidFill>
                  <a:srgbClr val="41190d"/>
                </a:solidFill>
                <a:latin typeface="Arial"/>
              </a:rPr>
              <a:t>AES-256 &amp; PyCryptodome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: End-to-end payload encryption executed at the campus edge.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lang="en-US" sz="1300" spc="-1" strike="noStrike">
                <a:solidFill>
                  <a:srgbClr val="41190d"/>
                </a:solidFill>
                <a:latin typeface="Arial"/>
              </a:rPr>
              <a:t>Zero-Trust Auth Layer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: Cryptographic token-based authentication.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🐳</a:t>
            </a:r>
            <a:r>
              <a:rPr b="0" lang="en-US" sz="1300" spc="-1" strike="noStrike" u="sng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1" lang="en-US" sz="1400" spc="-1" strike="noStrike" u="sng">
                <a:solidFill>
                  <a:srgbClr val="000000"/>
                </a:solidFill>
                <a:uFillTx/>
                <a:latin typeface="FreeSans"/>
              </a:rPr>
              <a:t>Edge Infrastructure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75000"/>
              <a:buFont typeface="Wingdings" charset="2"/>
              <a:buChar char=""/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Docker &amp; NGINX: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 Containerized routing and reverse proxy firewalls for network isolation.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75000"/>
              <a:buFont typeface="Wingdings" charset="2"/>
              <a:buChar char=""/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Hardware Surrogates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: ESP32 (simulating lab sensors) and AMD Edge Nodes (local gateways).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⚙️ </a:t>
            </a:r>
            <a:r>
              <a:rPr b="1" lang="en-US" sz="1400" spc="-1" strike="noStrike" u="sng">
                <a:solidFill>
                  <a:srgbClr val="000000"/>
                </a:solidFill>
                <a:uFillTx/>
                <a:latin typeface="FreeSans"/>
              </a:rPr>
              <a:t>Core Backend &amp; Databases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1" lang="en-US" sz="1300" spc="-1" strike="noStrike">
                <a:solidFill>
                  <a:srgbClr val="41190d"/>
                </a:solidFill>
                <a:latin typeface="Arial"/>
              </a:rPr>
              <a:t>Python (Flask):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 High-throughput, asynchronous API handling.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1" lang="en-US" sz="1300" spc="-1" strike="noStrike">
                <a:solidFill>
                  <a:srgbClr val="41190d"/>
                </a:solidFill>
                <a:latin typeface="Arial"/>
              </a:rPr>
              <a:t>Cassandra &amp; Redis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: Decentralized Data Lake (historical telemetry) and in-memory caching (real-time threat blocking)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Usage of AMD Products/Solutions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Google Shape;122;p21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23;p21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sp>
        <p:nvSpPr>
          <p:cNvPr id="77" name="TextBox 3"/>
          <p:cNvSpPr/>
          <p:nvPr/>
        </p:nvSpPr>
        <p:spPr>
          <a:xfrm>
            <a:off x="203040" y="1256760"/>
            <a:ext cx="8229600" cy="39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🖥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AMD Ryzen™ AI (Edge Inference) 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Federated Learning models run directly on local Ryzen™ NPUs inside university labs. This enables ultra-low-latency threat detection while guaranteeing raw student PII never leaves the room.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Aft>
                <a:spcPts val="1009"/>
              </a:spcAf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⚙️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AMD EPYC™ (Core Campus Gateway) 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Leveraging massive multi-core processing to handle simultaneous AES-256 decryption, Zero-Trust session management,and Docker routing for thousands of concurrent campus devices without latency.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720"/>
              </a:spcAf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🧠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Ryzen AI Software Stack 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Utilizing the ONNX runtime to accelerate our Deep Learning Temporal Autoencoders and Local GenAI models for immediate, explainable threat detection.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📈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Optimized Edge Orchestration :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AMD’s robust compute environment ensures our containerized network (Docker/NGINX) runs flawlessly, providing strict isolation to prevent lateral malware attacks between research departments.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Estimated implementation cost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228240" y="1249920"/>
            <a:ext cx="8603640" cy="355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225"/>
              </a:spcBef>
              <a:spcAft>
                <a:spcPts val="575"/>
              </a:spcAft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Retrofit Edge Gateways (~$15 per device)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ESP32-based hardware securely retrofits existing legacy lab equipment, avoiding massive hardware replacement costs for the university.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225"/>
              </a:spcBef>
              <a:spcAft>
                <a:spcPts val="575"/>
              </a:spcAft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On-Premise AI Nodes (~$600 per lab/building)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009"/>
              </a:spcAft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Deploying AMD Ryzen™ AI-powered mini-PCs for local inference eliminates expensive, recurring cloud-compute API fees.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1"/>
              </a:spcBef>
              <a:spcAft>
                <a:spcPts val="575"/>
              </a:spcAft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Core Campus Infrastructure (~$4,000+ one-time)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009"/>
              </a:spcAft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Centralized AMD EPYC™ enterprise server to manage the university intranet, handling high-volume decryption, routing, and decentralized storage.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1"/>
              </a:spcBef>
              <a:spcAft>
                <a:spcPts val="431"/>
              </a:spcAft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Software Licensing ($0 Recurring)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009"/>
              </a:spcAft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Poppins"/>
                <a:ea typeface="Poppins"/>
              </a:rPr>
              <a:t>Utilizing an open-source core architecture (Docker, PyTorch, Local Llama-3 SLMs) ensures zero vendor lock-in and maximizes educational IT budgets.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Google Shape;130;p22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31;p22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Revenue Model (B2B Enterprise SaaS &amp; Hardware)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Google Shape;147;p24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148;p24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228600" y="1191600"/>
            <a:ext cx="8686800" cy="3930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🛠️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Hardware Integration (One-Time CapEx)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89"/>
              </a:spcAft>
              <a:buClr>
                <a:srgbClr val="000000"/>
              </a:buClr>
              <a:buSzPct val="90000"/>
              <a:buFont typeface="Wingdings" charset="2"/>
              <a:buChar char="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Direct sales of pre-configured ESP32 Edge Gateways.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90000"/>
              <a:buFont typeface="Wingdings" charset="2"/>
              <a:buChar char="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On-premise AMD Ryzen™ AI mini-servers with a standard markup.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🔄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Software Licensing (Annual Recurring Revenue)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Aft>
                <a:spcPts val="431"/>
              </a:spcAft>
              <a:buClr>
                <a:srgbClr val="000000"/>
              </a:buClr>
              <a:buSzPct val="80000"/>
              <a:buFont typeface="Wingdings" charset="2"/>
              <a:buChar char="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Tiered SaaS subscription based on the number of secured labs/devices.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Aft>
                <a:spcPts val="431"/>
              </a:spcAft>
              <a:buClr>
                <a:srgbClr val="000000"/>
              </a:buClr>
              <a:buSzPct val="80000"/>
              <a:buFont typeface="Wingdings" charset="2"/>
              <a:buChar char="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Includes continuous TrustAI threat intelligence updates.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🛡️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Premium Support &amp; Compliance (Upsell)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289"/>
              </a:spcBef>
              <a:spcAft>
                <a:spcPts val="575"/>
              </a:spcAft>
              <a:buClr>
                <a:srgbClr val="000000"/>
              </a:buClr>
              <a:buSzPct val="80000"/>
              <a:buFont typeface="Wingdings" charset="2"/>
              <a:buChar char="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Enterprise SLAs (Service Level Agreements).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289"/>
              </a:spcBef>
              <a:spcAft>
                <a:spcPts val="575"/>
              </a:spcAft>
              <a:buClr>
                <a:srgbClr val="000000"/>
              </a:buClr>
              <a:buSzPct val="80000"/>
              <a:buFont typeface="Wingdings" charset="2"/>
              <a:buChar char="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24/7 GenAI security reporting and instant FERPA/GDPR audits.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💡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Core Business Value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Aft>
                <a:spcPts val="575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Creates high-margin, sticky recurring revenue.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Aft>
                <a:spcPts val="575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Eliminates unpredictable, expensive public-cloud API fees for universities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311760" y="1926000"/>
            <a:ext cx="8520120" cy="28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300" spc="-1" strike="noStrike">
                <a:solidFill>
                  <a:schemeClr val="dk2"/>
                </a:solidFill>
                <a:latin typeface="Poppins"/>
                <a:ea typeface="Poppins"/>
              </a:rPr>
              <a:t>Type here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20" spc="-1" strike="noStrike">
                <a:solidFill>
                  <a:schemeClr val="dk1"/>
                </a:solidFill>
                <a:latin typeface="Poppins"/>
                <a:ea typeface="Poppins"/>
              </a:rPr>
              <a:t>Prototype Assets (Optional)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38;p23"/>
          <p:cNvSpPr/>
          <p:nvPr/>
        </p:nvSpPr>
        <p:spPr>
          <a:xfrm>
            <a:off x="311760" y="1192320"/>
            <a:ext cx="8520120" cy="6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b="0" lang="en-GB" sz="1400" spc="-1" strike="noStrike">
                <a:solidFill>
                  <a:schemeClr val="dk1"/>
                </a:solidFill>
                <a:latin typeface="Poppins"/>
                <a:ea typeface="Poppins"/>
              </a:rPr>
              <a:t>GitHub Public Repository Link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b="0" lang="en-GB" sz="1400" spc="-1" strike="noStrike">
                <a:solidFill>
                  <a:schemeClr val="dk1"/>
                </a:solidFill>
                <a:latin typeface="Poppins"/>
                <a:ea typeface="Poppins"/>
              </a:rPr>
              <a:t>Demo Video Link (Max: 3 Minutes)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139;p23" descr=""/>
          <p:cNvPicPr/>
          <p:nvPr/>
        </p:nvPicPr>
        <p:blipFill>
          <a:blip r:embed="rId1"/>
          <a:srcRect l="0" t="0" r="0" b="89083"/>
          <a:stretch/>
        </p:blipFill>
        <p:spPr>
          <a:xfrm>
            <a:off x="0" y="0"/>
            <a:ext cx="9143640" cy="56124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140;p23" descr=""/>
          <p:cNvPicPr/>
          <p:nvPr/>
        </p:nvPicPr>
        <p:blipFill>
          <a:blip r:embed="rId2"/>
          <a:srcRect l="0" t="98294" r="0" b="0"/>
          <a:stretch/>
        </p:blipFill>
        <p:spPr>
          <a:xfrm>
            <a:off x="0" y="5055840"/>
            <a:ext cx="9143640" cy="8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US" sz="52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US" sz="2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93" name="Google Shape;167;p2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2026-03-01T14:30:39Z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